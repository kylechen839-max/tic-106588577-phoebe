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66a1ea7-b212-a758-62d6-28b881e062f2}">
          <p14:sldIdLst>
            <p14:sldId id="256"/>
            <p14:sldId id="257"/>
          </p14:sldIdLst>
        </p14:section>
        <p14:section name="Binary" id="{9204871b-38aa-c2fc-0f2e-7db83bbef9f9}">
          <p14:sldIdLst>
            <p14:sldId id="258"/>
            <p14:sldId id="259"/>
          </p14:sldIdLst>
        </p14:section>
        <p14:section name="Infrared excess" id="{e7576d89-f392-a032-f905-29eb4abe2db2}">
          <p14:sldIdLst>
            <p14:sldId id="260"/>
            <p14:sldId id="261"/>
            <p14:sldId id="262"/>
            <p14:sldId id="263"/>
          </p14:sldIdLst>
        </p14:section>
        <p14:section name="Next steps" id="{7490940d-81a4-803f-9482-02c5794136aa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J2312+53: an eclipsing binary with a 22 µm excess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Listed in Gaia DR3 and VSX eclipsing-binary catalogues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Summary</a:t>
            </a:r>
            <a:endParaRPr lang="en-US" sz="2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C8CE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441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6.85 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Detached eclipsing binary of two ~9,900 K stars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3268980" y="12344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C8CE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6140" y="13441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χ²ᵣ 0.39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0614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PHOEBE binary model fits the TESS light curve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080760" y="12344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C8CE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441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12.6σ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22 µm (W4) excess above the binary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excess is real and not from a neighbour, but the star sits on extended dust emission, so a disk is not yet proven.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Unequal eclipse depths fix the period at 6.85 d</a:t>
            </a:r>
            <a:endParaRPr lang="en-US" sz="2200" dirty="0"/>
          </a:p>
        </p:txBody>
      </p:sp>
      <p:pic>
        <p:nvPicPr>
          <p:cNvPr id="3" name="Image 0" descr="/tmp/claude-0/-home-claude-tic-106588577-phoebe/9801b85f-ee4b-5050-ac26-be5ee36f67a6/scratchpad/deck/img/ec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394960" cy="2779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069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Stacked eclipses in TESS sectors 16, 17 and 57. Blue = primary, red = secondary.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128016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Primary is deeper than secondary (118σ)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Secondary is 16 min early: slight eccentricity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Matches both catalogue periods: Gaia DR3 6.8494 d, VSX 6.8495 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Two near-twin A stars on a nearly circular orbit</a:t>
            </a:r>
            <a:endParaRPr lang="en-US" sz="2200" dirty="0"/>
          </a:p>
        </p:txBody>
      </p:sp>
      <p:pic>
        <p:nvPicPr>
          <p:cNvPr id="3" name="Image 0" descr="/tmp/claude-0/-home-claude-tic-106588577-phoebe/9801b85f-ee4b-5050-ac26-be5ee36f67a6/scratchpad/deck/img/f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33009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462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TESS data (black), PHOEBE model (red), residuals below.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280160"/>
          <a:ext cx="33832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Inclination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82.8°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R₁ / R₂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4.28 / 2.95 R☉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T₁ / T₂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9,932 / 9,700 K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Eccentricity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0.01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χ²ᵣ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0.39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303520" y="3657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Sectors disagree on eclipse depth by up to 3%; a per-sector fit is still needed.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W4 is 3.6× brighter than the binary predicts</a:t>
            </a:r>
            <a:endParaRPr lang="en-US" sz="2200" dirty="0"/>
          </a:p>
        </p:txBody>
      </p:sp>
      <p:pic>
        <p:nvPicPr>
          <p:cNvPr id="3" name="Image 0" descr="/tmp/claude-0/-home-claude-tic-106588577-phoebe/9801b85f-ee4b-5050-ac26-be5ee36f67a6/scratchpad/deck/img/s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754880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462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2MASS + AllWISE photometry (black) vs the binary photosphere (blue).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12801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Near-IR matches the photosphere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Excess: W3 7.0σ, W4 12.6σ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AllWISE images: the star sits on a ridge of dust emission</a:t>
            </a:r>
            <a:endParaRPr lang="en-US" sz="2200" dirty="0"/>
          </a:p>
        </p:txBody>
      </p:sp>
      <p:pic>
        <p:nvPicPr>
          <p:cNvPr id="3" name="Image 0" descr="/tmp/claude-0/-home-claude-tic-106588577-phoebe/9801b85f-ee4b-5050-ac26-be5ee36f67a6/scratchpad/deck/img/wide_h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051560"/>
            <a:ext cx="6675120" cy="3474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5720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10′ × 10′ AllWISE W3 (12 µm, left) and W4 (22 µm, right). Cyan circle = the star; green = faint neighbours.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But the 22 µm light is extended, not a point source</a:t>
            </a:r>
            <a:endParaRPr lang="en-US" sz="2200" dirty="0"/>
          </a:p>
        </p:txBody>
      </p:sp>
      <p:pic>
        <p:nvPicPr>
          <p:cNvPr id="3" name="Image 0" descr="/tmp/claude-0/-home-claude-tic-106588577-phoebe/9801b85f-ee4b-5050-ac26-be5ee36f67a6/scratchpad/deck/img/z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2724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4′ × 4′ W3 and W4 cutouts and radial profiles.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W4 stays at 15–20% of peak out to 100″; a point source would fade within ~30″. The star sits on a ridge of dust emission.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neighbour explains the excess or dilutes the eclipses</a:t>
            </a:r>
            <a:endParaRPr lang="en-US" sz="2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060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C8CE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441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≤ 4.1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W4 SNR of any AllWISE source within 3′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3268980" y="1234440"/>
            <a:ext cx="26060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C8CE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6140" y="13441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06140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Gaia sources within 12″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080760" y="1234440"/>
            <a:ext cx="26060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C8CE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441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1.8%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Flux from Gaia sources at 12–60″ (TESS dilution)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4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Excess real, origin uncertain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excess vs aperture size; Spitzer 24 µm or Herschel images; per-sector light-curve fit.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2312 Infrared">
  <a:themeElements>
    <a:clrScheme name="J2312 Infrared">
      <a:dk1>
        <a:srgbClr val="1B1F2A"/>
      </a:dk1>
      <a:lt1>
        <a:srgbClr val="FFFFFF"/>
      </a:lt1>
      <a:dk2>
        <a:srgbClr val="14213D"/>
      </a:dk2>
      <a:lt2>
        <a:srgbClr val="F4F5F8"/>
      </a:lt2>
      <a:accent1>
        <a:srgbClr val="E8743B"/>
      </a:accent1>
      <a:accent2>
        <a:srgbClr val="5B6B8C"/>
      </a:accent2>
      <a:accent3>
        <a:srgbClr val="2E8B7A"/>
      </a:accent3>
      <a:accent4>
        <a:srgbClr val="C8CEDB"/>
      </a:accent4>
      <a:accent5>
        <a:srgbClr val="B23A48"/>
      </a:accent5>
      <a:accent6>
        <a:srgbClr val="8A94A8"/>
      </a:accent6>
      <a:hlink>
        <a:srgbClr val="E8743B"/>
      </a:hlink>
      <a:folHlink>
        <a:srgbClr val="5B6B8C"/>
      </a:folHlink>
    </a:clrScheme>
    <a:fontScheme name="J2312 Infrar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J2312+53: eclipsing binary with a 22 µm excess</dc:title>
  <dc:subject>PptxGenJS Presentation</dc:subject>
  <dc:creator>Kyle Chen</dc:creator>
  <cp:lastModifiedBy>Kyle Chen</cp:lastModifiedBy>
  <cp:revision>1</cp:revision>
  <dcterms:created xsi:type="dcterms:W3CDTF">2026-10-26T23:32:49Z</dcterms:created>
  <dcterms:modified xsi:type="dcterms:W3CDTF">2026-10-26T23:32:49Z</dcterms:modified>
</cp:coreProperties>
</file>