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verview" id="{2aa413ef-0f02-1ce3-fae8-de98450e969f}">
          <p14:sldIdLst>
            <p14:sldId id="256"/>
            <p14:sldId id="257"/>
            <p14:sldId id="258"/>
          </p14:sldIdLst>
        </p14:section>
        <p14:section name="Binary" id="{d65b7279-d9b7-48f2-eb58-f48821ff2a0c}">
          <p14:sldIdLst>
            <p14:sldId id="259"/>
            <p14:sldId id="260"/>
          </p14:sldIdLst>
        </p14:section>
        <p14:section name="Infrared excess" id="{60a34421-05f0-0723-9e5a-aa02fae68943}">
          <p14:sldIdLst>
            <p14:sldId id="261"/>
            <p14:sldId id="262"/>
            <p14:sldId id="263"/>
            <p14:sldId id="264"/>
          </p14:sldIdLst>
        </p14:section>
        <p14:section name="Next steps" id="{d6f7db1d-fbe4-0e67-0b6f-9bc7e087c9bb}">
          <p14:sldIdLst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TITLE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defRPr>
            </a:lvl1pPr>
          </a:lstStyle>
          <a:p>
            <a:pPr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880360"/>
            <a:ext cx="80467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chemeClr val="accent4"/>
                </a:solidFill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2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defRPr>
            </a:lvl1pPr>
          </a:lstStyle>
          <a:p>
            <a:pPr indent="0" marL="0">
              <a:buNone/>
            </a:pP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4A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4A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3716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J2312+53: an eclipsing binary with a 22 µm excess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88036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Listed in Gaia DR3 and VSX eclipsing-binary catalogues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How we found it: Disk Detective × eclipsing-binary cross-match</a:t>
            </a:r>
            <a:endParaRPr lang="en-US" sz="2200" dirty="0"/>
          </a:p>
        </p:txBody>
      </p:sp>
      <p:sp>
        <p:nvSpPr>
          <p:cNvPr id="3" name="card"/>
          <p:cNvSpPr/>
          <p:nvPr/>
        </p:nvSpPr>
        <p:spPr>
          <a:xfrm>
            <a:off x="457200" y="1463040"/>
            <a:ext cx="1874520" cy="1920240"/>
          </a:xfrm>
          <a:prstGeom prst="roundRect">
            <a:avLst>
              <a:gd name="adj" fmla="val 3902"/>
            </a:avLst>
          </a:prstGeom>
          <a:solidFill>
            <a:schemeClr val="bg1"/>
          </a:solidFill>
          <a:ln w="9525">
            <a:solidFill>
              <a:srgbClr val="C8CED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572768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412,729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286000"/>
            <a:ext cx="1600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Disk Detective 1.0 objects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2331720" y="2103120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2"/>
                </a:solidFill>
              </a:rPr>
              <a:t>→</a:t>
            </a:r>
            <a:endParaRPr lang="en-US" sz="2000" dirty="0"/>
          </a:p>
        </p:txBody>
      </p:sp>
      <p:sp>
        <p:nvSpPr>
          <p:cNvPr id="7" name="card"/>
          <p:cNvSpPr/>
          <p:nvPr/>
        </p:nvSpPr>
        <p:spPr>
          <a:xfrm>
            <a:off x="2560320" y="1463040"/>
            <a:ext cx="1874520" cy="1920240"/>
          </a:xfrm>
          <a:prstGeom prst="roundRect">
            <a:avLst>
              <a:gd name="adj" fmla="val 3902"/>
            </a:avLst>
          </a:prstGeom>
          <a:solidFill>
            <a:schemeClr val="bg1"/>
          </a:solidFill>
          <a:ln w="9525">
            <a:solidFill>
              <a:srgbClr val="C8CE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697480" y="1572768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800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2697480" y="2286000"/>
            <a:ext cx="1600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Matched to 15 eclipsing-binary catalogues within 3″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434840" y="2103120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2"/>
                </a:solidFill>
              </a:rPr>
              <a:t>→</a:t>
            </a:r>
            <a:endParaRPr lang="en-US" sz="2000" dirty="0"/>
          </a:p>
        </p:txBody>
      </p:sp>
      <p:sp>
        <p:nvSpPr>
          <p:cNvPr id="11" name="card"/>
          <p:cNvSpPr/>
          <p:nvPr/>
        </p:nvSpPr>
        <p:spPr>
          <a:xfrm>
            <a:off x="4663440" y="1463040"/>
            <a:ext cx="1874520" cy="1920240"/>
          </a:xfrm>
          <a:prstGeom prst="roundRect">
            <a:avLst>
              <a:gd name="adj" fmla="val 3902"/>
            </a:avLst>
          </a:prstGeom>
          <a:solidFill>
            <a:schemeClr val="bg1"/>
          </a:solidFill>
          <a:ln w="9525">
            <a:solidFill>
              <a:srgbClr val="C8CED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800600" y="1572768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12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800600" y="2286000"/>
            <a:ext cx="1600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Tier A after 18 checks (IR excess, images, TESS)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537960" y="2103120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2"/>
                </a:solidFill>
              </a:rPr>
              <a:t>→</a:t>
            </a:r>
            <a:endParaRPr lang="en-US" sz="2000" dirty="0"/>
          </a:p>
        </p:txBody>
      </p:sp>
      <p:sp>
        <p:nvSpPr>
          <p:cNvPr id="15" name="card"/>
          <p:cNvSpPr/>
          <p:nvPr/>
        </p:nvSpPr>
        <p:spPr>
          <a:xfrm>
            <a:off x="6766560" y="1463040"/>
            <a:ext cx="1874520" cy="1920240"/>
          </a:xfrm>
          <a:prstGeom prst="roundRect">
            <a:avLst>
              <a:gd name="adj" fmla="val 3902"/>
            </a:avLst>
          </a:prstGeom>
          <a:solidFill>
            <a:schemeClr val="bg1"/>
          </a:solidFill>
          <a:ln w="9525">
            <a:solidFill>
              <a:srgbClr val="C8CED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903720" y="1572768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5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J2312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6903720" y="2286000"/>
            <a:ext cx="1600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Tier A, passes all 18 checks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37490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Catalogues include Gaia DR3, VSX, ZTF, ATLAS, ASAS-SN and the TESS EB lists.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4A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Summary</a:t>
            </a:r>
            <a:endParaRPr lang="en-US" sz="2200" dirty="0"/>
          </a:p>
        </p:txBody>
      </p:sp>
      <p:sp>
        <p:nvSpPr>
          <p:cNvPr id="3" name="card"/>
          <p:cNvSpPr/>
          <p:nvPr/>
        </p:nvSpPr>
        <p:spPr>
          <a:xfrm>
            <a:off x="457200" y="123444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1"/>
          </a:solidFill>
          <a:ln w="9525">
            <a:solidFill>
              <a:srgbClr val="C8CED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344168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6.85 d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05740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Detached eclipsing binary of two ~9,900 K stars</a:t>
            </a:r>
            <a:endParaRPr lang="en-US" sz="1200" dirty="0"/>
          </a:p>
        </p:txBody>
      </p:sp>
      <p:sp>
        <p:nvSpPr>
          <p:cNvPr id="6" name="card"/>
          <p:cNvSpPr/>
          <p:nvPr/>
        </p:nvSpPr>
        <p:spPr>
          <a:xfrm>
            <a:off x="3268980" y="123444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1"/>
          </a:solidFill>
          <a:ln w="9525">
            <a:solidFill>
              <a:srgbClr val="C8CED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406140" y="1344168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χ²ᵣ 0.39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3406140" y="205740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PHOEBE binary model fits the TESS light curve</a:t>
            </a:r>
            <a:endParaRPr lang="en-US" sz="1200" dirty="0"/>
          </a:p>
        </p:txBody>
      </p:sp>
      <p:sp>
        <p:nvSpPr>
          <p:cNvPr id="9" name="card"/>
          <p:cNvSpPr/>
          <p:nvPr/>
        </p:nvSpPr>
        <p:spPr>
          <a:xfrm>
            <a:off x="6080760" y="123444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1"/>
          </a:solidFill>
          <a:ln w="9525">
            <a:solidFill>
              <a:srgbClr val="C8CED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17920" y="1344168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5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12.6σ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6217920" y="205740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22 µm (W4) excess above the binary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3200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The excess is real and not from a neighbour, but the star sits on extended dust emission, so a disk is not yet proven.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4A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Unequal eclipse depths fix the period at 6.85 d</a:t>
            </a:r>
            <a:endParaRPr lang="en-US" sz="2200" dirty="0"/>
          </a:p>
        </p:txBody>
      </p:sp>
      <p:pic>
        <p:nvPicPr>
          <p:cNvPr id="3" name="Image 0" descr="/tmp/claude-0/-home-claude-tic-106588577-phoebe/9801b85f-ee4b-5050-ac26-be5ee36f67a6/scratchpad/deck/img/ec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5394960" cy="277977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406908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2"/>
                </a:solidFill>
              </a:rPr>
              <a:t>Stacked eclipses in TESS sectors 16, 17 and 57. Blue = primary, red = secondary.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6035040" y="1280160"/>
            <a:ext cx="265176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Primary is deeper than secondary (118σ)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Secondary is 16 min early: slight eccentricity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Matches both catalogue periods: Gaia DR3 6.8494 d, VSX 6.8495 d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4A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Two near-twin A stars on a nearly circular orbit</a:t>
            </a:r>
            <a:endParaRPr lang="en-US" sz="2200" dirty="0"/>
          </a:p>
        </p:txBody>
      </p:sp>
      <p:pic>
        <p:nvPicPr>
          <p:cNvPr id="3" name="Image 0" descr="/tmp/claude-0/-home-claude-tic-106588577-phoebe/9801b85f-ee4b-5050-ac26-be5ee36f67a6/scratchpad/deck/img/fi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4572000" cy="330098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446227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2"/>
                </a:solidFill>
              </a:rPr>
              <a:t>TESS data (black), PHOEBE model (red), residuals below.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303520" y="1280160"/>
          <a:ext cx="3383280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196596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Inclination</a:t>
                      </a:r>
                      <a:endParaRPr lang="en-US" sz="14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8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82.8°</a:t>
                      </a:r>
                      <a:endParaRPr lang="en-US" sz="14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8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R₁ / R₂</a:t>
                      </a:r>
                      <a:endParaRPr lang="en-US" sz="14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8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4.28 / 2.95 R☉</a:t>
                      </a:r>
                      <a:endParaRPr lang="en-US" sz="14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8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T₁ / T₂</a:t>
                      </a:r>
                      <a:endParaRPr lang="en-US" sz="14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8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9,932 / 9,700 K</a:t>
                      </a:r>
                      <a:endParaRPr lang="en-US" sz="14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8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Eccentricity</a:t>
                      </a:r>
                      <a:endParaRPr lang="en-US" sz="14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8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≈ 0.01</a:t>
                      </a:r>
                      <a:endParaRPr lang="en-US" sz="14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8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χ²ᵣ</a:t>
                      </a:r>
                      <a:endParaRPr lang="en-US" sz="14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8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0.39</a:t>
                      </a:r>
                      <a:endParaRPr lang="en-US" sz="14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8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303520" y="365760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2"/>
                </a:solidFill>
              </a:rPr>
              <a:t>Sectors disagree on eclipse depth by up to 3%; a per-sector fit is still needed.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4A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W4 is 3.6× brighter than the binary predicts</a:t>
            </a:r>
            <a:endParaRPr lang="en-US" sz="2200" dirty="0"/>
          </a:p>
        </p:txBody>
      </p:sp>
      <p:pic>
        <p:nvPicPr>
          <p:cNvPr id="3" name="Image 0" descr="/tmp/claude-0/-home-claude-tic-106588577-phoebe/9801b85f-ee4b-5050-ac26-be5ee36f67a6/scratchpad/deck/img/se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4754880" cy="32918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446227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2"/>
                </a:solidFill>
              </a:rPr>
              <a:t>2MASS + AllWISE photometry (black) vs the binary photosphere (blue).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0" y="1280160"/>
            <a:ext cx="3200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Near-IR matches the photosphere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Excess: W3 7.0σ, W4 12.6σ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4A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AllWISE images: the star sits on a ridge of dust emission</a:t>
            </a:r>
            <a:endParaRPr lang="en-US" sz="2200" dirty="0"/>
          </a:p>
        </p:txBody>
      </p:sp>
      <p:pic>
        <p:nvPicPr>
          <p:cNvPr id="3" name="Image 0" descr="/tmp/claude-0/-home-claude-tic-106588577-phoebe/9801b85f-ee4b-5050-ac26-be5ee36f67a6/scratchpad/deck/img/wide_hi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4440" y="1051560"/>
            <a:ext cx="6675120" cy="34747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234440" y="4572000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2"/>
                </a:solidFill>
              </a:rPr>
              <a:t>10′ × 10′ AllWISE W3 (12 µm, left) and W4 (22 µm, right). Cyan circle = the star; green = faint neighbours.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4A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But the 22 µm light is extended, not a point source</a:t>
            </a:r>
            <a:endParaRPr lang="en-US" sz="2200" dirty="0"/>
          </a:p>
        </p:txBody>
      </p:sp>
      <p:pic>
        <p:nvPicPr>
          <p:cNvPr id="3" name="Image 0" descr="/tmp/claude-0/-home-claude-tic-106588577-phoebe/9801b85f-ee4b-5050-ac26-be5ee36f67a6/scratchpad/deck/img/zoom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43000"/>
            <a:ext cx="8229600" cy="272491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39319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2"/>
                </a:solidFill>
              </a:rPr>
              <a:t>4′ × 4′ W3 and W4 cutouts and radial profiles.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42519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W4 stays at 15–20% of peak out to 100″; a point source would fade within ~30″. The star sits on a ridge of dust emission.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4A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No neighbour explains the excess or dilutes the eclipses</a:t>
            </a:r>
            <a:endParaRPr lang="en-US" sz="2200" dirty="0"/>
          </a:p>
        </p:txBody>
      </p:sp>
      <p:sp>
        <p:nvSpPr>
          <p:cNvPr id="3" name="card"/>
          <p:cNvSpPr/>
          <p:nvPr/>
        </p:nvSpPr>
        <p:spPr>
          <a:xfrm>
            <a:off x="457200" y="1234440"/>
            <a:ext cx="2606040" cy="1828800"/>
          </a:xfrm>
          <a:prstGeom prst="roundRect">
            <a:avLst>
              <a:gd name="adj" fmla="val 4000"/>
            </a:avLst>
          </a:prstGeom>
          <a:solidFill>
            <a:schemeClr val="bg1"/>
          </a:solidFill>
          <a:ln w="9525">
            <a:solidFill>
              <a:srgbClr val="C8CED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344168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≤ 4.1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057400"/>
            <a:ext cx="2331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W4 SNR of any AllWISE source within 3′</a:t>
            </a:r>
            <a:endParaRPr lang="en-US" sz="1200" dirty="0"/>
          </a:p>
        </p:txBody>
      </p:sp>
      <p:sp>
        <p:nvSpPr>
          <p:cNvPr id="6" name="card"/>
          <p:cNvSpPr/>
          <p:nvPr/>
        </p:nvSpPr>
        <p:spPr>
          <a:xfrm>
            <a:off x="3268980" y="1234440"/>
            <a:ext cx="2606040" cy="1828800"/>
          </a:xfrm>
          <a:prstGeom prst="roundRect">
            <a:avLst>
              <a:gd name="adj" fmla="val 4000"/>
            </a:avLst>
          </a:prstGeom>
          <a:solidFill>
            <a:schemeClr val="bg1"/>
          </a:solidFill>
          <a:ln w="9525">
            <a:solidFill>
              <a:srgbClr val="C8CED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406140" y="1344168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3406140" y="2057400"/>
            <a:ext cx="2331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Gaia sources within 12″</a:t>
            </a:r>
            <a:endParaRPr lang="en-US" sz="1200" dirty="0"/>
          </a:p>
        </p:txBody>
      </p:sp>
      <p:sp>
        <p:nvSpPr>
          <p:cNvPr id="9" name="card"/>
          <p:cNvSpPr/>
          <p:nvPr/>
        </p:nvSpPr>
        <p:spPr>
          <a:xfrm>
            <a:off x="6080760" y="1234440"/>
            <a:ext cx="2606040" cy="1828800"/>
          </a:xfrm>
          <a:prstGeom prst="roundRect">
            <a:avLst>
              <a:gd name="adj" fmla="val 4000"/>
            </a:avLst>
          </a:prstGeom>
          <a:solidFill>
            <a:schemeClr val="bg1"/>
          </a:solidFill>
          <a:ln w="9525">
            <a:solidFill>
              <a:srgbClr val="C8CED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17920" y="1344168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1.8%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6217920" y="2057400"/>
            <a:ext cx="2331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Flux from Gaia sources at 12–60″ (TESS dilution)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4A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3716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Excess real, origin uncertain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88036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excess vs aperture size; Spitzer 24 µm or Herschel images; per-sector light-curve fit.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J2312 Infrared">
  <a:themeElements>
    <a:clrScheme name="J2312 Infrared">
      <a:dk1>
        <a:srgbClr val="1B1F2A"/>
      </a:dk1>
      <a:lt1>
        <a:srgbClr val="FFFFFF"/>
      </a:lt1>
      <a:dk2>
        <a:srgbClr val="14213D"/>
      </a:dk2>
      <a:lt2>
        <a:srgbClr val="F4F5F8"/>
      </a:lt2>
      <a:accent1>
        <a:srgbClr val="E8743B"/>
      </a:accent1>
      <a:accent2>
        <a:srgbClr val="5B6B8C"/>
      </a:accent2>
      <a:accent3>
        <a:srgbClr val="2E8B7A"/>
      </a:accent3>
      <a:accent4>
        <a:srgbClr val="C8CEDB"/>
      </a:accent4>
      <a:accent5>
        <a:srgbClr val="B23A48"/>
      </a:accent5>
      <a:accent6>
        <a:srgbClr val="8A94A8"/>
      </a:accent6>
      <a:hlink>
        <a:srgbClr val="E8743B"/>
      </a:hlink>
      <a:folHlink>
        <a:srgbClr val="5B6B8C"/>
      </a:folHlink>
    </a:clrScheme>
    <a:fontScheme name="J2312 Infrared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J2312+53: eclipsing binary with a 22 µm excess</dc:title>
  <dc:subject>PptxGenJS Presentation</dc:subject>
  <dc:creator>Kyle Chen</dc:creator>
  <cp:lastModifiedBy>Kyle Chen</cp:lastModifiedBy>
  <cp:revision>1</cp:revision>
  <dcterms:created xsi:type="dcterms:W3CDTF">2026-10-26T23:59:15Z</dcterms:created>
  <dcterms:modified xsi:type="dcterms:W3CDTF">2026-10-26T23:59:15Z</dcterms:modified>
</cp:coreProperties>
</file>